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3296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3297" y="0"/>
            <a:ext cx="11300444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96" y="388620"/>
            <a:ext cx="1234440" cy="123444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892" y="251460"/>
            <a:ext cx="1357939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80481" y="214884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200" b="1">
                <a:solidFill>
                  <a:srgbClr val="FF6D00"/>
                </a:solidFill>
                <a:latin typeface="Calibri"/>
              </a:defRPr>
            </a:pPr>
            <a:r>
              <a:rPr dirty="0" err="1"/>
              <a:t>MyFood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980481" y="2926080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212121"/>
                </a:solidFill>
                <a:latin typeface="Calibri"/>
              </a:defRPr>
            </a:pPr>
            <a:r>
              <a:rPr dirty="0"/>
              <a:t>Application Android de </a:t>
            </a:r>
            <a:r>
              <a:rPr dirty="0" err="1"/>
              <a:t>commande</a:t>
            </a:r>
            <a:r>
              <a:rPr dirty="0"/>
              <a:t> de plats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481" y="3520440"/>
            <a:ext cx="66751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455A64"/>
                </a:solidFill>
                <a:latin typeface="Calibri"/>
              </a:defRPr>
            </a:pPr>
            <a:r>
              <a:rPr dirty="0"/>
              <a:t>Kotlin · Jetpack Compose · </a:t>
            </a:r>
            <a:r>
              <a:rPr dirty="0" err="1"/>
              <a:t>Supabase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574841" y="416052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74841" y="4160520"/>
            <a:ext cx="539496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3441" y="43434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Calibri"/>
              </a:defRPr>
            </a:pPr>
            <a:r>
              <a:t>Projet technique &amp; soutenance</a:t>
            </a:r>
            <a:br/>
            <a:r>
              <a:t>Commande en ligne · Espace restaurateur · Notifications temps réel</a:t>
            </a:r>
            <a:br/>
            <a:r>
              <a:t>Année universitaire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Contexte &amp;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Pourquoi une application de commande mobile pour la restauration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5373471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" y="1417320"/>
            <a:ext cx="54864" cy="452628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1566752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rPr dirty="0"/>
              <a:t>Constat </a:t>
            </a:r>
            <a:r>
              <a:rPr dirty="0" err="1"/>
              <a:t>marché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42416" y="2084832"/>
            <a:ext cx="511743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Digitalisation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de la restauration au Maroc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Clients : menu 24h/24, </a:t>
            </a:r>
            <a:r>
              <a:rPr dirty="0" err="1"/>
              <a:t>commande</a:t>
            </a:r>
            <a:r>
              <a:rPr dirty="0"/>
              <a:t> sans </a:t>
            </a:r>
            <a:r>
              <a:rPr dirty="0" err="1"/>
              <a:t>appel</a:t>
            </a:r>
            <a:r>
              <a:rPr dirty="0"/>
              <a:t>, </a:t>
            </a:r>
            <a:r>
              <a:rPr dirty="0" err="1"/>
              <a:t>suivi</a:t>
            </a:r>
            <a:r>
              <a:rPr dirty="0"/>
              <a:t> livraison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Restaurateurs : </a:t>
            </a:r>
            <a:r>
              <a:rPr dirty="0" err="1"/>
              <a:t>centraliser</a:t>
            </a:r>
            <a:r>
              <a:rPr dirty="0"/>
              <a:t> menu + flux </a:t>
            </a:r>
            <a:r>
              <a:rPr dirty="0" err="1"/>
              <a:t>commandes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Concurrence des </a:t>
            </a:r>
            <a:r>
              <a:rPr dirty="0" err="1"/>
              <a:t>plateformes</a:t>
            </a:r>
            <a:r>
              <a:rPr dirty="0"/>
              <a:t> delivery </a:t>
            </a:r>
            <a:r>
              <a:rPr dirty="0" err="1"/>
              <a:t>généralistes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rPr dirty="0" err="1"/>
              <a:t>Limites</a:t>
            </a:r>
            <a:r>
              <a:rPr dirty="0"/>
              <a:t> des solutions </a:t>
            </a:r>
            <a:r>
              <a:rPr dirty="0" err="1"/>
              <a:t>actuelles</a:t>
            </a:r>
            <a:r>
              <a:rPr dirty="0"/>
              <a:t> :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→ Pas </a:t>
            </a:r>
            <a:r>
              <a:rPr dirty="0" err="1"/>
              <a:t>d'outil</a:t>
            </a:r>
            <a:r>
              <a:rPr dirty="0"/>
              <a:t> </a:t>
            </a:r>
            <a:r>
              <a:rPr dirty="0" err="1"/>
              <a:t>dédié</a:t>
            </a:r>
            <a:r>
              <a:rPr dirty="0"/>
              <a:t> mono-restaurant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→ </a:t>
            </a:r>
            <a:r>
              <a:rPr dirty="0" err="1"/>
              <a:t>Téléphone</a:t>
            </a:r>
            <a:r>
              <a:rPr dirty="0"/>
              <a:t> / papier = </a:t>
            </a:r>
            <a:r>
              <a:rPr dirty="0" err="1"/>
              <a:t>erreurs</a:t>
            </a:r>
            <a:r>
              <a:rPr dirty="0"/>
              <a:t> &amp; </a:t>
            </a:r>
            <a:r>
              <a:rPr dirty="0" err="1"/>
              <a:t>lenteur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61023" y="1417320"/>
            <a:ext cx="5373471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61023" y="1417320"/>
            <a:ext cx="54864" cy="4526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0971" y="1527048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D00"/>
                </a:solidFill>
                <a:latin typeface="Calibri"/>
              </a:defRPr>
            </a:pPr>
            <a:r>
              <a:rPr dirty="0" err="1"/>
              <a:t>Problématique</a:t>
            </a:r>
            <a:r>
              <a:rPr dirty="0"/>
              <a:t> &amp; </a:t>
            </a:r>
            <a:r>
              <a:rPr dirty="0" err="1"/>
              <a:t>réponse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644487" y="2020824"/>
            <a:ext cx="511743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rPr dirty="0" err="1"/>
              <a:t>Problème</a:t>
            </a:r>
            <a:r>
              <a:rPr dirty="0"/>
              <a:t> :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Absence </a:t>
            </a:r>
            <a:r>
              <a:rPr dirty="0" err="1"/>
              <a:t>d'app</a:t>
            </a:r>
            <a:r>
              <a:rPr dirty="0"/>
              <a:t> </a:t>
            </a:r>
            <a:r>
              <a:rPr dirty="0" err="1"/>
              <a:t>unifiée</a:t>
            </a:r>
            <a:r>
              <a:rPr dirty="0"/>
              <a:t> client + back-office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Pas de </a:t>
            </a:r>
            <a:r>
              <a:rPr dirty="0" err="1"/>
              <a:t>traçabilité</a:t>
            </a:r>
            <a:r>
              <a:rPr dirty="0"/>
              <a:t> des </a:t>
            </a:r>
            <a:r>
              <a:rPr dirty="0" err="1"/>
              <a:t>statuts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temps </a:t>
            </a:r>
            <a:r>
              <a:rPr dirty="0" err="1"/>
              <a:t>réel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• Gestion </a:t>
            </a:r>
            <a:r>
              <a:rPr dirty="0" err="1"/>
              <a:t>manuelle</a:t>
            </a:r>
            <a:r>
              <a:rPr dirty="0"/>
              <a:t> du catalogue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rPr dirty="0"/>
              <a:t>Notre </a:t>
            </a:r>
            <a:r>
              <a:rPr dirty="0" err="1"/>
              <a:t>réponse</a:t>
            </a:r>
            <a:r>
              <a:rPr dirty="0"/>
              <a:t> — </a:t>
            </a:r>
            <a:r>
              <a:rPr dirty="0" err="1"/>
              <a:t>MyFood</a:t>
            </a:r>
            <a:r>
              <a:rPr dirty="0"/>
              <a:t> :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✓ App Android native (UX </a:t>
            </a:r>
            <a:r>
              <a:rPr dirty="0" err="1"/>
              <a:t>fluide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✓ Backend </a:t>
            </a:r>
            <a:r>
              <a:rPr dirty="0" err="1"/>
              <a:t>Supabase</a:t>
            </a:r>
            <a:r>
              <a:rPr dirty="0"/>
              <a:t> (Auth, DB, Storage)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Rôles</a:t>
            </a:r>
            <a:r>
              <a:rPr dirty="0"/>
              <a:t> Client + Restaurateur (admin)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✓ Notifications push &amp; Realtime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OBJECTIFS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Objectifs du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Ce que MyFood doit accomplir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1527048"/>
            <a:ext cx="384048" cy="384048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1581912"/>
            <a:ext cx="32918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545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Fonctionnel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920240"/>
            <a:ext cx="331104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Menu par catégories, panier, checkout, historique commandes, favoris, avis 1–5★, profil.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3186" y="1417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914" y="1527048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2058" y="1581912"/>
            <a:ext cx="3657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0114" y="1545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Fonctionnel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1920240"/>
            <a:ext cx="331104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Dashboard stats, CRUD plats/catégories, upload photos, gestion statuts commande.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7420" y="1417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77148" y="1527048"/>
            <a:ext cx="384048" cy="384048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4580" y="1581912"/>
            <a:ext cx="32918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4348" y="1545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580" y="1920240"/>
            <a:ext cx="331104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MVVM + Hilt, Compose Material 3, repositories Supabase, Navigation Compose.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3703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8680" y="3813048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3880622"/>
            <a:ext cx="32918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831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206240"/>
            <a:ext cx="331104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Auth JWT Supabase, RLS PostgreSQL, séparation user/admin via profiles.role.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3186" y="3703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914" y="3813048"/>
            <a:ext cx="384048" cy="384048"/>
          </a:xfrm>
          <a:prstGeom prst="ellipse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1202" y="3874267"/>
            <a:ext cx="3566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30114" y="3831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UX &amp; qualité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0346" y="4206240"/>
            <a:ext cx="331104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Thème clair/sombre, animations, shimmer chargement, Coil images, toasts globaux.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67420" y="3703320"/>
            <a:ext cx="3567074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277148" y="3813048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4580" y="3867912"/>
            <a:ext cx="32918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4348" y="3831336"/>
            <a:ext cx="292699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Déploiement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4580" y="4206240"/>
            <a:ext cx="331104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rPr dirty="0"/>
              <a:t>Script SQL unique, CI GitHub Actions APK.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99B9E9FE-886C-C231-A59A-9E48C2327D64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3A2AC3D8-1F97-5479-113F-A834A168DB21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ARCHITECTURE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Architecture &amp; stack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Couches applicatives et technologies utilisées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353312"/>
            <a:ext cx="1298448" cy="384048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Kotlin 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12264" y="1353312"/>
            <a:ext cx="1298448" cy="384048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57984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Compose M3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1353312"/>
            <a:ext cx="1298448" cy="384048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8888" y="1353312"/>
            <a:ext cx="1298448" cy="384048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353312"/>
            <a:ext cx="1298448" cy="384048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Realtime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1353312"/>
            <a:ext cx="1298448" cy="384048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71232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1353312"/>
            <a:ext cx="1298448" cy="384048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24544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2136" y="1353312"/>
            <a:ext cx="1298448" cy="384048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77856" y="1408176"/>
            <a:ext cx="1207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DataStore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1965960"/>
            <a:ext cx="1828800" cy="960120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2258568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Présentation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1965960"/>
            <a:ext cx="9009583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7792" y="2221992"/>
            <a:ext cx="86895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Screens · Components · NavGraph · Theme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017520"/>
            <a:ext cx="1828800" cy="96012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3310128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ViewModels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4912" y="3017520"/>
            <a:ext cx="9009583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07792" y="3273552"/>
            <a:ext cx="86895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Auth · Plat · Cart · Order · Checkout · Admin · Theme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" y="4069080"/>
            <a:ext cx="1828800" cy="960120"/>
          </a:xfrm>
          <a:prstGeom prst="round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4361688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24912" y="4069080"/>
            <a:ext cx="9009583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07792" y="4325112"/>
            <a:ext cx="86895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Repositories · Models.kt · PreferenceManager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" y="5120640"/>
            <a:ext cx="1828800" cy="96012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5413248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24912" y="5120640"/>
            <a:ext cx="9009583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07792" y="5376672"/>
            <a:ext cx="86895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SupabaseClient · OrderRealtimeManager · Firebase Messaging</a:t>
            </a:r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6E344589-CF58-28D0-31B4-DAE4F3A0BFE8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A2558967-FB0B-BADB-6AA2-DD4C48F54632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BACKEND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Backend 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Schéma PostgreSQL, Storage et sécurité Row Level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389888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1481328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1737360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user /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4267" y="1389888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7419" y="1481328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7419" y="1737360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emoji + nom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9583" y="1389888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2735" y="1481328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plats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1737360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prix, image_url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4899" y="1389888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051" y="1481328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commandes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051" y="1737360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statut, total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2231136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2322576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commande_items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2578608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lignes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14267" y="2231136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87419" y="2322576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favoris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7419" y="2578608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unique user+plat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9583" y="2231136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2735" y="2322576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avis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2578608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note 1–5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24899" y="2231136"/>
            <a:ext cx="2663875" cy="749808"/>
          </a:xfrm>
          <a:prstGeom prst="roundRect">
            <a:avLst/>
          </a:prstGeom>
          <a:solidFill>
            <a:srgbClr val="E8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051" y="2322576"/>
            <a:ext cx="25541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4D40"/>
                </a:solidFill>
                <a:latin typeface="Calibri"/>
              </a:defRPr>
            </a:pPr>
            <a:r>
              <a:t>push_tokens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051" y="2578608"/>
            <a:ext cx="25541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55A64"/>
                </a:solidFill>
                <a:latin typeface="Calibri"/>
              </a:defRPr>
            </a:pPr>
            <a:r>
              <a:t>FCM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" y="3246120"/>
            <a:ext cx="6365814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8952" y="3246120"/>
            <a:ext cx="54864" cy="260604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" y="3337560"/>
            <a:ext cx="613721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t>Cycle commande &amp; trigger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" y="3630168"/>
            <a:ext cx="610978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Statuts : En attente → En préparation → En livraison → Livré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Trigger handle_new_user() : profil auto à l'inscription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Bucket Storage « plats » : images publiques, écriture admin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Edge Function push-order-notification (webhook) — optionnel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4005" y="3246120"/>
            <a:ext cx="4060978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54005" y="3246120"/>
            <a:ext cx="54864" cy="2606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18597" y="3337560"/>
            <a:ext cx="383237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D00"/>
                </a:solidFill>
                <a:latin typeface="Calibri"/>
              </a:defRPr>
            </a:pPr>
            <a:r>
              <a:t>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8597" y="3630168"/>
            <a:ext cx="380494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Lecture publique : categories, plats, avis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Données perso : favoris, tokens, profil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Commandes : ses lignes ; admin = tout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Clé anon côté app (jamais service_role)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942B0620-5E2E-04F8-0A8F-629D67972858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B919E030-F8BC-5080-4F18-168C3124FF3F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0</a:t>
            </a:r>
            <a:r>
              <a:rPr lang="fr-FR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PARCOURS CLIENT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Parcours utilisateur (rôle client)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Du lancement à la notification de statut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34312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70888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Splash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Session 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6289" y="251460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3449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78809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5385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9169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9169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Login /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0786" y="251460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7946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123306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59882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3666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Accueil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3666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Menu + filtres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5283" y="251460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2443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67804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04380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8163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Détail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8163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Panier / favoris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9780" y="251460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6940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12301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48877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2660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2660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INSERT commande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4277" y="251460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81437" y="1508760"/>
            <a:ext cx="1753057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656798" y="1645920"/>
            <a:ext cx="402336" cy="402336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93374" y="1709928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7157" y="2167128"/>
            <a:ext cx="166161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04D40"/>
                </a:solidFill>
                <a:latin typeface="Calibri"/>
              </a:defRPr>
            </a:pPr>
            <a:r>
              <a:t>Suivi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7157" y="2514600"/>
            <a:ext cx="166161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455A64"/>
                </a:solidFill>
                <a:latin typeface="Calibri"/>
              </a:defRPr>
            </a:pPr>
            <a:r>
              <a:t>Realtime + notif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" y="3977639"/>
            <a:ext cx="10975543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58952" y="3977639"/>
            <a:ext cx="54864" cy="196596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" y="4069079"/>
            <a:ext cx="1074694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t>Fonctionnalités client détaillées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" y="4361687"/>
            <a:ext cx="10719511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Barre flottante : Accueil · Favoris · Panier (badge) · Commandes · Profil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Notation par plat (avis unique/user), favoris synchronisés cloud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Profil : adresse, téléphone, changement mot de passe, thème sombre (DataStore)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Panier en mémoire ViewModel — total dynamique avant validation</a:t>
            </a: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49FD596C-A08C-4598-BF4A-D3F8CD998021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8D4CC880-617A-7479-4523-D733B9CCCEB7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05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RESTAURATEUR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Espace restaurateur (admin)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Gestion opérationnelle du restaurant via role =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5396331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" y="1417320"/>
            <a:ext cx="54864" cy="44805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1508760"/>
            <a:ext cx="5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D00"/>
                </a:solidFill>
                <a:latin typeface="Calibri"/>
              </a:defRPr>
            </a:pPr>
            <a:r>
              <a:t>AdminMainScreen — onglets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1801368"/>
            <a:ext cx="5140299" cy="189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rPr dirty="0"/>
              <a:t>Dashboard : CA, </a:t>
            </a:r>
            <a:r>
              <a:rPr dirty="0" err="1"/>
              <a:t>commandes</a:t>
            </a:r>
            <a:r>
              <a:rPr dirty="0"/>
              <a:t> jour, </a:t>
            </a:r>
            <a:r>
              <a:rPr dirty="0" err="1"/>
              <a:t>graphiques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Plats : </a:t>
            </a:r>
            <a:r>
              <a:rPr dirty="0" err="1"/>
              <a:t>liste</a:t>
            </a:r>
            <a:r>
              <a:rPr dirty="0"/>
              <a:t>, </a:t>
            </a:r>
            <a:r>
              <a:rPr dirty="0" err="1"/>
              <a:t>création</a:t>
            </a:r>
            <a:r>
              <a:rPr dirty="0"/>
              <a:t>, </a:t>
            </a:r>
            <a:r>
              <a:rPr dirty="0" err="1"/>
              <a:t>édition</a:t>
            </a:r>
            <a:r>
              <a:rPr dirty="0"/>
              <a:t>, suppression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Catégories</a:t>
            </a:r>
            <a:r>
              <a:rPr dirty="0"/>
              <a:t> : CRUD + emoji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Commandes</a:t>
            </a:r>
            <a:r>
              <a:rPr dirty="0"/>
              <a:t> : 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commandes</a:t>
            </a:r>
            <a:r>
              <a:rPr dirty="0"/>
              <a:t> clients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Profil</a:t>
            </a:r>
            <a:r>
              <a:rPr dirty="0"/>
              <a:t> restaurateur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AdminSwipeableOrderCard</a:t>
            </a:r>
            <a:r>
              <a:rPr dirty="0"/>
              <a:t> : swipe </a:t>
            </a:r>
            <a:r>
              <a:rPr dirty="0" err="1"/>
              <a:t>ou</a:t>
            </a:r>
            <a:r>
              <a:rPr dirty="0"/>
              <a:t> bouton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pour faire </a:t>
            </a:r>
            <a:r>
              <a:rPr dirty="0" err="1"/>
              <a:t>avancer</a:t>
            </a:r>
            <a:r>
              <a:rPr dirty="0"/>
              <a:t> le </a:t>
            </a:r>
            <a:r>
              <a:rPr dirty="0" err="1"/>
              <a:t>statut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38163" y="1417320"/>
            <a:ext cx="5396331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38163" y="1417320"/>
            <a:ext cx="54864" cy="448056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2755" y="1508760"/>
            <a:ext cx="51677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t>EditPlat &amp; statistiques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755" y="1801368"/>
            <a:ext cx="514029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EditPlatScreen : nom, description, prix, catégorie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Upload image → bucket plats/covers/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URL publique → plats.image_url → Coil client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AdminStatsViewModel :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• Agrégation commandes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• Top plats populaires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• Indicateurs tableau de bord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Redirection auto si profiles.role = admin après login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13FD8D4-33E8-9B72-CC06-03E958D61B62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DC09CB82-4197-0D1D-0674-AC953B6A750B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06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NOTIFICATIONS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Notifications &amp;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Suivi instantané des commandes côté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5373471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" y="1417320"/>
            <a:ext cx="54864" cy="214884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1508760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t>Supabase 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1801368"/>
            <a:ext cx="5117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OrderRealtimeManager (Singleton Hilt)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Canal orders-{userId} sur table commandes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Écoute PostgresAction.Update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Filtre user_id → notification locale Android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Canal NotificationChannels.CLIENT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Actif si role ≠ admin dans MainActivity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1023" y="1417320"/>
            <a:ext cx="5373471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61023" y="1417320"/>
            <a:ext cx="54864" cy="21488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5615" y="1508760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D00"/>
                </a:solidFill>
                <a:latin typeface="Calibri"/>
              </a:defRPr>
            </a:pPr>
            <a:r>
              <a:t>Firebase Cloud 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1801368"/>
            <a:ext cx="51174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MyFirebaseMessagingService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Table push_tokens (user_id, token, platform)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Enregistrement au login · révocation au logout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Permission POST_NOTIFICATIONS (API 33+)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google-services.json requis dans app/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749039"/>
            <a:ext cx="2121956" cy="685800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19"/>
            <a:ext cx="20305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Admin change statut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908" y="3950207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6D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2348" y="3749039"/>
            <a:ext cx="2121956" cy="68580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8068" y="3931919"/>
            <a:ext cx="20305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12121"/>
                </a:solidFill>
                <a:latin typeface="Calibri"/>
              </a:defRPr>
            </a:pPr>
            <a:r>
              <a:t>UPDATE commandes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4305" y="3950207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6D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5745" y="3749039"/>
            <a:ext cx="2121956" cy="685800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1465" y="3931919"/>
            <a:ext cx="20305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Realtime / Webhook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7701" y="3950207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6D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99141" y="3749039"/>
            <a:ext cx="2121956" cy="68580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4861" y="3931919"/>
            <a:ext cx="20305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12121"/>
                </a:solidFill>
                <a:latin typeface="Calibri"/>
              </a:defRPr>
            </a:pPr>
            <a:r>
              <a:t>Notif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1098" y="3950207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6D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2538" y="3749039"/>
            <a:ext cx="2121956" cy="685800"/>
          </a:xfrm>
          <a:prstGeom prst="round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58258" y="3931919"/>
            <a:ext cx="20305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Client informé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" y="4617720"/>
            <a:ext cx="10975543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" y="4754880"/>
            <a:ext cx="106097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55A64"/>
                </a:solidFill>
                <a:latin typeface="Calibri"/>
              </a:defRPr>
            </a:pPr>
            <a:r>
              <a:t>Double canal de notification : Realtime pour réactivité immédiate en app ouverte · FCM pour alertes système même en arrière-plan (si Edge Function / webhook configuré).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72A1F00C-1F2E-FD55-A2D5-6852EC05C1DF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4463F8CE-FEE4-5C0F-36D2-C8F97D7EC08D}"/>
              </a:ext>
            </a:extLst>
          </p:cNvPr>
          <p:cNvSpPr txBox="1"/>
          <p:nvPr/>
        </p:nvSpPr>
        <p:spPr>
          <a:xfrm>
            <a:off x="-91440" y="308107"/>
            <a:ext cx="4389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07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16975" y="0"/>
            <a:ext cx="3474720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640080" cy="64008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28600"/>
            <a:ext cx="860028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51560"/>
            <a:ext cx="83512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6D00"/>
                </a:solidFill>
                <a:latin typeface="Calibri"/>
              </a:defRPr>
            </a:pPr>
            <a:r>
              <a:t>DÉMONSTRATION</a:t>
            </a:r>
            <a:br/>
            <a:r>
              <a:t>DE L'APPLICATION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⏸  Sortez de la présentation — montrez l'app en direct (émulateur ou téléphone)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" y="330098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335584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3192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Connexion utilisateur + navigation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06324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55848" y="330098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335584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3192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Ajout panier → checkout → succès commande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06324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44768" y="330098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335584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192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Connexion admin → changement statut commande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928" y="435254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440740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3708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Notification client + favoris / avis / thème sombre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11480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55848" y="435254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0712" y="440740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43708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CRUD plat + upload photo (Storage)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114800"/>
            <a:ext cx="2606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44768" y="4352544"/>
            <a:ext cx="384048" cy="38404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4407408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3708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Dashboard stats restaurateur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57800"/>
            <a:ext cx="8046720" cy="7772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413248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Préparez 2 comptes (user + admin) · données seed SQL · revenez slide 10 après la démo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" y="320040"/>
            <a:ext cx="256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INTERFACE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4" y="5945886"/>
            <a:ext cx="704088" cy="70408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12" y="5945660"/>
            <a:ext cx="704088" cy="711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Interface &amp; expérience 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Design Material 3 et composants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" y="3310128"/>
            <a:ext cx="3597554" cy="7315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527048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Material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856232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Palette orange/teal brand, cartes arrondies, chips catégories, typographie Calibri/Segoe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7946" y="1417320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47946" y="3310128"/>
            <a:ext cx="3597554" cy="73152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7674" y="1527048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7674" y="1856232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NavGraph animé (slide 500ms), FloatingAppBottomBar, routes typées Screen sealed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6940" y="1417320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6940" y="3310128"/>
            <a:ext cx="3597554" cy="7315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6668" y="1527048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Chargement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6668" y="1856232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Shimmer skeleton, AuthLoadingOverlay, splash Lottie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3493008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8952" y="5385816"/>
            <a:ext cx="3597554" cy="73152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602736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Médias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31920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PlatCoverAsyncImage + Coil, cache, Storage Supabase public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7946" y="3493008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47946" y="5385816"/>
            <a:ext cx="3597554" cy="7315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7674" y="3602736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Personnalisation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7674" y="3931920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ThemeViewModel + DataStore : mode clair / sombre persistant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6940" y="3493008"/>
            <a:ext cx="359755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6940" y="5385816"/>
            <a:ext cx="3597554" cy="73152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46668" y="3602736"/>
            <a:ext cx="341467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4D40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3931920"/>
            <a:ext cx="341467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55A64"/>
                </a:solidFill>
                <a:latin typeface="Calibri"/>
              </a:defRPr>
            </a:pPr>
            <a:r>
              <a:t>UiMessageBus → Toast global, RatingBar, dialogs changement mot de passe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B28A2277-5102-AB1E-1CF5-BAE536D4F4E4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" y="320040"/>
            <a:ext cx="256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11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6D00"/>
                </a:solidFill>
                <a:latin typeface="Calibri"/>
              </a:defRPr>
            </a:pPr>
            <a:r>
              <a:t>PERSPECTIVES</a:t>
            </a:r>
          </a:p>
        </p:txBody>
      </p:sp>
      <p:pic>
        <p:nvPicPr>
          <p:cNvPr id="7" name="Picture 6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45936"/>
            <a:ext cx="292608" cy="292608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895" y="6327648"/>
            <a:ext cx="325905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64224"/>
            <a:ext cx="100885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55A64"/>
                </a:solidFill>
                <a:latin typeface="Calibri"/>
              </a:defRPr>
            </a:pPr>
            <a:r>
              <a:t>MyFood · SUPMTI Oujda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8912"/>
            <a:ext cx="1097554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4D40"/>
                </a:solidFill>
                <a:latin typeface="Calibri"/>
              </a:defRPr>
            </a:pPr>
            <a:r>
              <a:t>Limites actuelles &amp; 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960120"/>
            <a:ext cx="109755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55A64"/>
                </a:solidFill>
                <a:latin typeface="Calibri"/>
              </a:defRPr>
            </a:pPr>
            <a:r>
              <a:t>État MVP / projet d'étude vs évolution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417320"/>
            <a:ext cx="5373471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" y="1417320"/>
            <a:ext cx="54864" cy="4526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1508760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⚠ Limites (v1.0)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1801368"/>
            <a:ext cx="511743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t>Panier uniquement en mémoire (perdu si process tué)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Clés Supabase codées en dur (SupabaseConfig.kt)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Release : minify/R8 désactivé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Tests automatisés limités (exemples JUnit seulement)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Pas de paiement en ligne (Stripe / CMI)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Application mono-restaurant (pas multi-tenant)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Dépendance réseau obligatoire (pas de mode offline)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1023" y="1417320"/>
            <a:ext cx="5373471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61023" y="1417320"/>
            <a:ext cx="54864" cy="452628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5615" y="1508760"/>
            <a:ext cx="51448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A6E"/>
                </a:solidFill>
                <a:latin typeface="Calibri"/>
              </a:defRPr>
            </a:pPr>
            <a:r>
              <a:t>🚀 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1801368"/>
            <a:ext cx="5117439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12121"/>
                </a:solidFill>
                <a:latin typeface="Calibri"/>
              </a:defRPr>
            </a:pPr>
            <a:r>
              <a:rPr dirty="0" err="1"/>
              <a:t>Persistance</a:t>
            </a:r>
            <a:r>
              <a:rPr dirty="0"/>
              <a:t> panier : Room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DataStore</a:t>
            </a:r>
            <a:r>
              <a:rPr dirty="0"/>
              <a:t> </a:t>
            </a:r>
            <a:r>
              <a:rPr dirty="0" err="1"/>
              <a:t>sérialisé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Paiement mobile &amp; </a:t>
            </a:r>
            <a:r>
              <a:rPr dirty="0" err="1"/>
              <a:t>facturation</a:t>
            </a:r>
            <a:r>
              <a:rPr dirty="0"/>
              <a:t> PDF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Géolocalisation</a:t>
            </a:r>
            <a:r>
              <a:rPr dirty="0"/>
              <a:t> </a:t>
            </a:r>
            <a:r>
              <a:rPr dirty="0" err="1"/>
              <a:t>livreur</a:t>
            </a:r>
            <a:r>
              <a:rPr dirty="0"/>
              <a:t> + carte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rPr dirty="0"/>
              <a:t>Tests UI Compose + CI Play Store</a:t>
            </a:r>
          </a:p>
          <a:p>
            <a:pPr>
              <a:spcAft>
                <a:spcPts val="500"/>
              </a:spcAft>
              <a:defRPr sz="1100">
                <a:solidFill>
                  <a:srgbClr val="212121"/>
                </a:solidFill>
                <a:latin typeface="Calibri"/>
              </a:defRPr>
            </a:pPr>
            <a:r>
              <a:t>Version </a:t>
            </a:r>
            <a:r>
              <a:rPr dirty="0"/>
              <a:t>iOS </a:t>
            </a:r>
            <a:r>
              <a:rPr dirty="0" err="1"/>
              <a:t>ou</a:t>
            </a:r>
            <a:r>
              <a:rPr dirty="0"/>
              <a:t> KMP </a:t>
            </a:r>
            <a:r>
              <a:rPr dirty="0" err="1"/>
              <a:t>partagé</a:t>
            </a:r>
            <a:endParaRPr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79C058FC-871D-ED93-5E33-E8BBF12E84B3}"/>
              </a:ext>
            </a:extLst>
          </p:cNvPr>
          <p:cNvSpPr/>
          <p:nvPr/>
        </p:nvSpPr>
        <p:spPr>
          <a:xfrm>
            <a:off x="256032" y="4572"/>
            <a:ext cx="11935663" cy="27432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UPM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868680" cy="86868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65760"/>
            <a:ext cx="950557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1127729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E0B2"/>
                </a:solidFill>
                <a:latin typeface="Calibri"/>
              </a:defRPr>
            </a:pPr>
            <a:r>
              <a:t>MyFood — Restauration digitale, mobile-first, sécurisée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926080"/>
            <a:ext cx="8138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315468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✓ Application Android native complète (Kotlin + Jetpack Compose)</a:t>
            </a:r>
          </a:p>
          <a:p>
            <a:pPr>
              <a:spcAft>
                <a:spcPts val="5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✓ Backend Supabase : Auth, PostgreSQL, Storage, Realtime, RLS</a:t>
            </a:r>
          </a:p>
          <a:p>
            <a:pPr>
              <a:spcAft>
                <a:spcPts val="5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✓ Double interface Client &amp; Restaurateur opérationnelle</a:t>
            </a:r>
          </a:p>
          <a:p>
            <a:pPr>
              <a:spcAft>
                <a:spcPts val="5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✓ Notifications et suivi commande en temps quasi réel</a:t>
            </a:r>
          </a:p>
          <a:p>
            <a:pPr>
              <a:spcAft>
                <a:spcPts val="500"/>
              </a:spcAft>
              <a:defRPr sz="1300">
                <a:solidFill>
                  <a:srgbClr val="212121"/>
                </a:solidFill>
                <a:latin typeface="Calibri"/>
              </a:defRPr>
            </a:pPr>
            <a:r>
              <a:t>✓ Base solide pour industrialisation et déploiement Play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Questions ?  ·  SUPMTI Oujda  ·  Projet MyFood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1218</Words>
  <Application>Microsoft Office PowerPoint</Application>
  <PresentationFormat>Grand écran</PresentationFormat>
  <Paragraphs>249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Ilham El alaoui</cp:lastModifiedBy>
  <cp:revision>5</cp:revision>
  <dcterms:created xsi:type="dcterms:W3CDTF">2013-01-27T09:14:16Z</dcterms:created>
  <dcterms:modified xsi:type="dcterms:W3CDTF">2026-05-18T21:02:26Z</dcterms:modified>
  <cp:category/>
</cp:coreProperties>
</file>